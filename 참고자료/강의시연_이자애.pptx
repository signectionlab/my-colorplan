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9" r:id="rId2"/>
    <p:sldId id="277" r:id="rId3"/>
    <p:sldId id="256" r:id="rId4"/>
    <p:sldId id="271" r:id="rId5"/>
    <p:sldId id="257" r:id="rId6"/>
    <p:sldId id="258" r:id="rId7"/>
    <p:sldId id="273" r:id="rId8"/>
    <p:sldId id="272" r:id="rId9"/>
    <p:sldId id="274" r:id="rId10"/>
    <p:sldId id="275" r:id="rId11"/>
    <p:sldId id="276" r:id="rId12"/>
    <p:sldId id="27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70" r:id="rId24"/>
    <p:sldId id="279" r:id="rId25"/>
  </p:sldIdLst>
  <p:sldSz cx="16256000" cy="9144000"/>
  <p:notesSz cx="6858000" cy="9144000"/>
  <p:embeddedFontLst>
    <p:embeddedFont>
      <p:font typeface="establish Retrosans OTF" pitchFamily="2" charset="-127"/>
      <p:regular r:id="rId26"/>
    </p:embeddedFont>
    <p:embeddedFont>
      <p:font typeface="Paperlogy 5 Medium" pitchFamily="2" charset="-127"/>
      <p:regular r:id="rId27"/>
    </p:embeddedFont>
    <p:embeddedFont>
      <p:font typeface="Binggrae" panose="02030503000000000000" pitchFamily="18" charset="-127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SB Aggro Medium" panose="02020603020101020101" pitchFamily="18" charset="-127"/>
      <p:regular r:id="rId34"/>
    </p:embeddedFont>
    <p:embeddedFont>
      <p:font typeface="Wavve PADO" panose="02020600000101010101" pitchFamily="18" charset="-127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06" autoAdjust="0"/>
    <p:restoredTop sz="94586" autoAdjust="0"/>
  </p:normalViewPr>
  <p:slideViewPr>
    <p:cSldViewPr>
      <p:cViewPr varScale="1">
        <p:scale>
          <a:sx n="91" d="100"/>
          <a:sy n="91" d="100"/>
        </p:scale>
        <p:origin x="240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cript.google.com/macros/s/AKfycbwEdUGh3ZjP-LvMw1j4VoeNxs8B45c3iaXiJh2mB4MOqC8ICPxWwQEUjWjh0sRz7jTkYw/exec" TargetMode="External"/><Relationship Id="rId2" Type="http://schemas.openxmlformats.org/officeDocument/2006/relationships/hyperlink" Target="https://script.google.com/macros/s/AKfycbxpB2hjy6SdgxImGxkLd4HEyqQcyrvJIWw67PKSTqobqAgY3OxVT6g4lyPZm0jn-a9S3Q/exec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8BBCD70-5E52-3CBE-21A9-6AF72812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9BB899-E646-8DDA-3D82-7136077FED41}"/>
              </a:ext>
            </a:extLst>
          </p:cNvPr>
          <p:cNvSpPr txBox="1"/>
          <p:nvPr/>
        </p:nvSpPr>
        <p:spPr>
          <a:xfrm>
            <a:off x="5427581" y="7543800"/>
            <a:ext cx="5400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SB Aggro Medium" panose="02020603020101020101" pitchFamily="18" charset="-127"/>
                <a:ea typeface="SB Aggro Medium" panose="02020603020101020101" pitchFamily="18" charset="-127"/>
              </a:rPr>
              <a:t>AI</a:t>
            </a:r>
            <a:r>
              <a:rPr kumimoji="1" lang="ko-KR" altLang="en-US" sz="3200" dirty="0">
                <a:latin typeface="SB Aggro Medium" panose="02020603020101020101" pitchFamily="18" charset="-127"/>
                <a:ea typeface="SB Aggro Medium" panose="02020603020101020101" pitchFamily="18" charset="-127"/>
              </a:rPr>
              <a:t>디지털강사양성과정 </a:t>
            </a:r>
            <a:r>
              <a:rPr kumimoji="1" lang="ko-KR" altLang="en-US" sz="3200" dirty="0" err="1">
                <a:latin typeface="SB Aggro Medium" panose="02020603020101020101" pitchFamily="18" charset="-127"/>
                <a:ea typeface="SB Aggro Medium" panose="02020603020101020101" pitchFamily="18" charset="-127"/>
              </a:rPr>
              <a:t>이자애</a:t>
            </a:r>
            <a:endParaRPr kumimoji="1" lang="ko-KR" altLang="en-US" sz="3200" dirty="0">
              <a:latin typeface="SB Aggro Medium" panose="02020603020101020101" pitchFamily="18" charset="-127"/>
              <a:ea typeface="SB Aggro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6766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3FF8E82-B677-0AAA-961F-40F93E4CF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71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166CCF0-4385-200F-7156-B39BC2DB9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03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81C18FD-7DD8-DE4E-EF96-8B06564D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46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A6D1B12-925F-7C83-1581-30F9A7784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4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1B844A1-B218-994F-6FA3-55D8F845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21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FE860-C9A9-6A45-BD7B-05C0D2905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60EB333-440B-B90D-8E67-147B1E62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7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23C77-858A-3BEF-5536-A208DECC52E7}"/>
              </a:ext>
            </a:extLst>
          </p:cNvPr>
          <p:cNvSpPr txBox="1"/>
          <p:nvPr/>
        </p:nvSpPr>
        <p:spPr>
          <a:xfrm>
            <a:off x="665267" y="409426"/>
            <a:ext cx="30844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4000" b="1" dirty="0">
                <a:solidFill>
                  <a:schemeClr val="accent6">
                    <a:lumMod val="75000"/>
                  </a:schemeClr>
                </a:solidFill>
                <a:latin typeface="establish Retrosans OTF" pitchFamily="2" charset="-127"/>
                <a:ea typeface="establish Retrosans OTF" pitchFamily="2" charset="-127"/>
              </a:rPr>
              <a:t>CONTENT</a:t>
            </a:r>
            <a:endParaRPr kumimoji="1" lang="ko-Kore-KR" altLang="en-US" sz="4000" b="1" dirty="0">
              <a:solidFill>
                <a:schemeClr val="accent6">
                  <a:lumMod val="75000"/>
                </a:schemeClr>
              </a:solidFill>
              <a:latin typeface="establish Retrosans OTF" pitchFamily="2" charset="-127"/>
              <a:ea typeface="establish Retrosans OTF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6AEFA-DD66-5705-1B44-8C5AD9DE5C84}"/>
              </a:ext>
            </a:extLst>
          </p:cNvPr>
          <p:cNvSpPr txBox="1"/>
          <p:nvPr/>
        </p:nvSpPr>
        <p:spPr>
          <a:xfrm>
            <a:off x="1803400" y="2195155"/>
            <a:ext cx="80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000" dirty="0">
                <a:latin typeface="Paperlogy 5 Medium" pitchFamily="2" charset="-127"/>
                <a:ea typeface="Paperlogy 5 Medium" pitchFamily="2" charset="-127"/>
              </a:rPr>
              <a:t>1</a:t>
            </a:r>
            <a:r>
              <a:rPr kumimoji="1" lang="ko-KR" altLang="en-US" sz="2000" dirty="0" err="1">
                <a:latin typeface="Paperlogy 5 Medium" pitchFamily="2" charset="-127"/>
                <a:ea typeface="Paperlogy 5 Medium" pitchFamily="2" charset="-127"/>
              </a:rPr>
              <a:t>회차</a:t>
            </a:r>
            <a:endParaRPr kumimoji="1" lang="ko-Kore-KR" altLang="en-US" sz="2000" dirty="0"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71FAB-337A-1364-6932-39D17B93DA1E}"/>
              </a:ext>
            </a:extLst>
          </p:cNvPr>
          <p:cNvSpPr txBox="1"/>
          <p:nvPr/>
        </p:nvSpPr>
        <p:spPr>
          <a:xfrm>
            <a:off x="812800" y="2698116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b="1" dirty="0">
                <a:latin typeface="Paperlogy 5 Medium" pitchFamily="2" charset="-127"/>
                <a:ea typeface="Paperlogy 5 Medium" pitchFamily="2" charset="-127"/>
              </a:rPr>
              <a:t>내 브랜드 컬러 기획의 첫걸음</a:t>
            </a:r>
            <a:endParaRPr kumimoji="1" lang="ko-Kore-KR" altLang="en-US" sz="2000" b="1" dirty="0"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D376E-7A0E-38AC-1412-B5354BA2EBD7}"/>
              </a:ext>
            </a:extLst>
          </p:cNvPr>
          <p:cNvSpPr txBox="1"/>
          <p:nvPr/>
        </p:nvSpPr>
        <p:spPr>
          <a:xfrm>
            <a:off x="812800" y="3467419"/>
            <a:ext cx="3505200" cy="3673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비즈니스 컬러 가이드</a:t>
            </a:r>
            <a:endParaRPr kumimoji="1" lang="en-US" altLang="ko-KR" sz="1600" dirty="0"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기본 </a:t>
            </a:r>
            <a:r>
              <a:rPr kumimoji="1" lang="ko-KR" altLang="en-US" sz="1600" dirty="0" err="1">
                <a:latin typeface="Paperlogy 5 Medium" pitchFamily="2" charset="-127"/>
                <a:ea typeface="Paperlogy 5 Medium" pitchFamily="2" charset="-127"/>
              </a:rPr>
              <a:t>색명과</a:t>
            </a: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 </a:t>
            </a:r>
            <a:r>
              <a:rPr kumimoji="1" lang="ko-KR" altLang="en-US" sz="1600" dirty="0" err="1">
                <a:latin typeface="Paperlogy 5 Medium" pitchFamily="2" charset="-127"/>
                <a:ea typeface="Paperlogy 5 Medium" pitchFamily="2" charset="-127"/>
              </a:rPr>
              <a:t>형용색명의</a:t>
            </a: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 창의 이해</a:t>
            </a:r>
            <a:endParaRPr kumimoji="1" lang="en-US" altLang="ko-KR" sz="1600" dirty="0"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 err="1">
                <a:latin typeface="Paperlogy 5 Medium" pitchFamily="2" charset="-127"/>
                <a:ea typeface="Paperlogy 5 Medium" pitchFamily="2" charset="-127"/>
              </a:rPr>
              <a:t>먼셀</a:t>
            </a: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 색상환과 색의 </a:t>
            </a:r>
            <a:r>
              <a:rPr kumimoji="1" lang="en-US" altLang="ko-KR" sz="1600" dirty="0">
                <a:latin typeface="Paperlogy 5 Medium" pitchFamily="2" charset="-127"/>
                <a:ea typeface="Paperlogy 5 Medium" pitchFamily="2" charset="-127"/>
              </a:rPr>
              <a:t>3</a:t>
            </a: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속성</a:t>
            </a:r>
            <a:endParaRPr kumimoji="1" lang="en-US" altLang="ko-KR" sz="1600" dirty="0"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브랜드 키워드 </a:t>
            </a:r>
            <a:r>
              <a:rPr kumimoji="1" lang="en-US" altLang="ko-KR" sz="1600" dirty="0">
                <a:latin typeface="Paperlogy 5 Medium" pitchFamily="2" charset="-127"/>
                <a:ea typeface="Paperlogy 5 Medium" pitchFamily="2" charset="-127"/>
              </a:rPr>
              <a:t>3</a:t>
            </a: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가지 도출</a:t>
            </a:r>
            <a:endParaRPr kumimoji="1" lang="en-US" altLang="ko-KR" sz="1600" dirty="0"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형용사 이미지 배색 스케일표 활용하기</a:t>
            </a:r>
            <a:endParaRPr kumimoji="1" lang="en-US" altLang="ko-KR" sz="1600" dirty="0"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latin typeface="Paperlogy 5 Medium" pitchFamily="2" charset="-127"/>
                <a:ea typeface="Paperlogy 5 Medium" pitchFamily="2" charset="-127"/>
              </a:rPr>
              <a:t>나만의 무드보드 제작</a:t>
            </a:r>
            <a:endParaRPr kumimoji="1" lang="en-US" altLang="ko-KR" sz="1600" dirty="0">
              <a:latin typeface="Paperlogy 5 Medium" pitchFamily="2" charset="-127"/>
              <a:ea typeface="Paperlogy 5 Medium" pitchFamily="2" charset="-127"/>
            </a:endParaRP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876DDEE3-2621-DB93-13CE-433B75A9A8E3}"/>
              </a:ext>
            </a:extLst>
          </p:cNvPr>
          <p:cNvCxnSpPr>
            <a:cxnSpLocks/>
          </p:cNvCxnSpPr>
          <p:nvPr/>
        </p:nvCxnSpPr>
        <p:spPr>
          <a:xfrm>
            <a:off x="584200" y="3352800"/>
            <a:ext cx="150576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F7FDDA-8741-2B54-87A7-0FE19FABF4D2}"/>
              </a:ext>
            </a:extLst>
          </p:cNvPr>
          <p:cNvSpPr txBox="1"/>
          <p:nvPr/>
        </p:nvSpPr>
        <p:spPr>
          <a:xfrm>
            <a:off x="5634630" y="2195155"/>
            <a:ext cx="80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2</a:t>
            </a:r>
            <a:r>
              <a:rPr kumimoji="1" lang="ko-KR" alt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회차</a:t>
            </a:r>
            <a:endParaRPr kumimoji="1" lang="ko-Kore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A6B6BE-E38C-71CB-6397-DCE1A314C78B}"/>
              </a:ext>
            </a:extLst>
          </p:cNvPr>
          <p:cNvSpPr txBox="1"/>
          <p:nvPr/>
        </p:nvSpPr>
        <p:spPr>
          <a:xfrm>
            <a:off x="4644030" y="2698116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시선을 잡는 배색전략</a:t>
            </a:r>
            <a:endParaRPr kumimoji="1" lang="ko-Kore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E4F64E-7C8E-C816-6B49-135D38E3BE4D}"/>
              </a:ext>
            </a:extLst>
          </p:cNvPr>
          <p:cNvSpPr txBox="1"/>
          <p:nvPr/>
        </p:nvSpPr>
        <p:spPr>
          <a:xfrm>
            <a:off x="4644030" y="3467419"/>
            <a:ext cx="3505200" cy="3058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우수 브랜드 컬러 배색 분석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컬러배색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 </a:t>
            </a: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4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가지 핵심원리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내 브랜드 무드보드에 배색 적용하기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기독성을 높이는 텍스트와 컬러대비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1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차 배색 팔레트 완성하기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EE922E-C5E2-7AF0-0219-F110668463D4}"/>
              </a:ext>
            </a:extLst>
          </p:cNvPr>
          <p:cNvSpPr txBox="1"/>
          <p:nvPr/>
        </p:nvSpPr>
        <p:spPr>
          <a:xfrm>
            <a:off x="9401412" y="2195155"/>
            <a:ext cx="80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3</a:t>
            </a:r>
            <a:r>
              <a:rPr kumimoji="1" lang="ko-KR" alt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회차</a:t>
            </a:r>
            <a:endParaRPr kumimoji="1" lang="ko-Kore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D2458A-E06C-0727-8A3A-2A26A1E178D7}"/>
              </a:ext>
            </a:extLst>
          </p:cNvPr>
          <p:cNvSpPr txBox="1"/>
          <p:nvPr/>
        </p:nvSpPr>
        <p:spPr>
          <a:xfrm>
            <a:off x="8410812" y="2698116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실전</a:t>
            </a:r>
            <a:r>
              <a:rPr kumimoji="1"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!</a:t>
            </a:r>
            <a:r>
              <a:rPr kumimoji="1"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 마케팅 컬러 디자인</a:t>
            </a:r>
            <a:endParaRPr kumimoji="1" lang="ko-Kore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B2E8C-830D-3A7B-1C81-0BDB748758C8}"/>
              </a:ext>
            </a:extLst>
          </p:cNvPr>
          <p:cNvSpPr txBox="1"/>
          <p:nvPr/>
        </p:nvSpPr>
        <p:spPr>
          <a:xfrm>
            <a:off x="8410812" y="3467419"/>
            <a:ext cx="3505200" cy="3058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인쇄용</a:t>
            </a: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(CMYK)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과 디지털</a:t>
            </a: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(RGB)</a:t>
            </a: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매체별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 컬러 적용 매뉴얼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디자인툴</a:t>
            </a: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(</a:t>
            </a:r>
            <a:r>
              <a:rPr kumimoji="1"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캔바</a:t>
            </a: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,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 망고보드 등</a:t>
            </a:r>
            <a:r>
              <a:rPr kumimoji="1"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)</a:t>
            </a: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 활용하기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내 브랜드 컬러가 적용된 </a:t>
            </a:r>
            <a:r>
              <a:rPr kumimoji="1" lang="ko-KR" alt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썸네일제작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온라인 환경에서 사용될 컬러 정하기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2493D4-08CF-9E99-978E-45992FD6818E}"/>
              </a:ext>
            </a:extLst>
          </p:cNvPr>
          <p:cNvSpPr txBox="1"/>
          <p:nvPr/>
        </p:nvSpPr>
        <p:spPr>
          <a:xfrm>
            <a:off x="13127251" y="2195155"/>
            <a:ext cx="8082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4</a:t>
            </a:r>
            <a:r>
              <a:rPr kumimoji="1" lang="ko-KR" altLang="en-US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회차</a:t>
            </a:r>
            <a:endParaRPr kumimoji="1" lang="ko-Kore-KR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4B334B-5BC9-CA28-9EB3-CEEB99B0CEC4}"/>
              </a:ext>
            </a:extLst>
          </p:cNvPr>
          <p:cNvSpPr txBox="1"/>
          <p:nvPr/>
        </p:nvSpPr>
        <p:spPr>
          <a:xfrm>
            <a:off x="12136651" y="2698116"/>
            <a:ext cx="32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내 비즈니스 컬러 완성</a:t>
            </a:r>
            <a:endParaRPr kumimoji="1" lang="ko-Kore-KR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DA6310-FB33-8D28-62A6-65ACBCC5E409}"/>
              </a:ext>
            </a:extLst>
          </p:cNvPr>
          <p:cNvSpPr txBox="1"/>
          <p:nvPr/>
        </p:nvSpPr>
        <p:spPr>
          <a:xfrm>
            <a:off x="12136651" y="3467419"/>
            <a:ext cx="3505200" cy="3058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브랜드 컬러 일관성 지키기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컬러 매뉴얼 북 정리하기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무드보드 적용된 나의 마케팅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  <a:p>
            <a:pPr marL="136525" indent="-136525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aperlogy 5 Medium" pitchFamily="2" charset="-127"/>
                <a:ea typeface="Paperlogy 5 Medium" pitchFamily="2" charset="-127"/>
              </a:rPr>
              <a:t>외주 디자이너와 소통하는 컬러 가이드 만들기</a:t>
            </a:r>
            <a:endParaRPr kumimoji="1"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50E2BEC-F714-A7E6-3B21-29D8AD12891C}"/>
              </a:ext>
            </a:extLst>
          </p:cNvPr>
          <p:cNvSpPr/>
          <p:nvPr/>
        </p:nvSpPr>
        <p:spPr>
          <a:xfrm>
            <a:off x="528851" y="1905000"/>
            <a:ext cx="3505201" cy="6019800"/>
          </a:xfrm>
          <a:prstGeom prst="rect">
            <a:avLst/>
          </a:prstGeom>
          <a:noFill/>
          <a:ln w="1270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60618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E4FD8-9452-A512-E8D0-8A5D3DBBD17F}"/>
              </a:ext>
            </a:extLst>
          </p:cNvPr>
          <p:cNvSpPr txBox="1"/>
          <p:nvPr/>
        </p:nvSpPr>
        <p:spPr>
          <a:xfrm>
            <a:off x="812800" y="695440"/>
            <a:ext cx="262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dirty="0">
                <a:latin typeface="SB Aggro Medium" panose="02020603020101020101" pitchFamily="18" charset="-127"/>
                <a:ea typeface="SB Aggro Medium" panose="02020603020101020101" pitchFamily="18" charset="-127"/>
              </a:rPr>
              <a:t>실습도구 안내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0DB48-C862-B07E-3498-5E09C32F5871}"/>
              </a:ext>
            </a:extLst>
          </p:cNvPr>
          <p:cNvSpPr txBox="1"/>
          <p:nvPr/>
        </p:nvSpPr>
        <p:spPr>
          <a:xfrm>
            <a:off x="1574800" y="2426732"/>
            <a:ext cx="8927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 dirty="0">
                <a:highlight>
                  <a:srgbClr val="FFFF00"/>
                </a:highlight>
                <a:latin typeface="SB Aggro Medium" panose="02020603020101020101" pitchFamily="18" charset="-127"/>
                <a:ea typeface="SB Aggro Medium" panose="02020603020101020101" pitchFamily="18" charset="-127"/>
              </a:rPr>
              <a:t>디자인 무드보드</a:t>
            </a:r>
            <a:r>
              <a:rPr kumimoji="1" lang="en-US" altLang="ko-KR" sz="3600" dirty="0">
                <a:highlight>
                  <a:srgbClr val="FFFF00"/>
                </a:highlight>
                <a:latin typeface="SB Aggro Medium" panose="02020603020101020101" pitchFamily="18" charset="-127"/>
                <a:ea typeface="SB Aggro Medium" panose="02020603020101020101" pitchFamily="18" charset="-127"/>
              </a:rPr>
              <a:t>(Design </a:t>
            </a:r>
            <a:r>
              <a:rPr kumimoji="1" lang="en-US" altLang="ko-KR" sz="3600" dirty="0" err="1">
                <a:highlight>
                  <a:srgbClr val="FFFF00"/>
                </a:highlight>
                <a:latin typeface="SB Aggro Medium" panose="02020603020101020101" pitchFamily="18" charset="-127"/>
                <a:ea typeface="SB Aggro Medium" panose="02020603020101020101" pitchFamily="18" charset="-127"/>
              </a:rPr>
              <a:t>Moodboard</a:t>
            </a:r>
            <a:r>
              <a:rPr kumimoji="1" lang="en-US" altLang="ko-KR" sz="3600" dirty="0">
                <a:highlight>
                  <a:srgbClr val="FFFF00"/>
                </a:highlight>
                <a:latin typeface="SB Aggro Medium" panose="02020603020101020101" pitchFamily="18" charset="-127"/>
                <a:ea typeface="SB Aggro Medium" panose="02020603020101020101" pitchFamily="18" charset="-127"/>
              </a:rPr>
              <a:t>)</a:t>
            </a:r>
            <a:endParaRPr kumimoji="1" lang="ko-KR" altLang="en-US" sz="3600" dirty="0">
              <a:highlight>
                <a:srgbClr val="FFFF00"/>
              </a:highlight>
              <a:latin typeface="SB Aggro Medium" panose="02020603020101020101" pitchFamily="18" charset="-127"/>
              <a:ea typeface="SB Aggro Medium" panose="02020603020101020101" pitchFamily="18" charset="-127"/>
            </a:endParaRPr>
          </a:p>
        </p:txBody>
      </p:sp>
      <p:sp>
        <p:nvSpPr>
          <p:cNvPr id="5" name="모서리가 둥근 직사각형 4">
            <a:hlinkClick r:id="rId2"/>
            <a:extLst>
              <a:ext uri="{FF2B5EF4-FFF2-40B4-BE49-F238E27FC236}">
                <a16:creationId xmlns:a16="http://schemas.microsoft.com/office/drawing/2014/main" id="{BB4AD52F-F296-C244-5D38-5239C865248F}"/>
              </a:ext>
            </a:extLst>
          </p:cNvPr>
          <p:cNvSpPr/>
          <p:nvPr/>
        </p:nvSpPr>
        <p:spPr>
          <a:xfrm>
            <a:off x="1608667" y="3352800"/>
            <a:ext cx="2997555" cy="8382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>
                <a:solidFill>
                  <a:schemeClr val="tx1"/>
                </a:solidFill>
                <a:latin typeface="SB Aggro Medium" panose="02020603020101020101" pitchFamily="18" charset="-127"/>
                <a:ea typeface="SB Aggro Medium" panose="02020603020101020101" pitchFamily="18" charset="-127"/>
              </a:rPr>
              <a:t>→ 바로가기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03FC0-0E23-4BC5-1670-2E5B405FF682}"/>
              </a:ext>
            </a:extLst>
          </p:cNvPr>
          <p:cNvSpPr txBox="1"/>
          <p:nvPr/>
        </p:nvSpPr>
        <p:spPr>
          <a:xfrm>
            <a:off x="1574800" y="5334000"/>
            <a:ext cx="12183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>
                <a:highlight>
                  <a:srgbClr val="FFFF00"/>
                </a:highlight>
                <a:latin typeface="SB Aggro Medium" panose="02020603020101020101" pitchFamily="18" charset="-127"/>
                <a:ea typeface="SB Aggro Medium" panose="02020603020101020101" pitchFamily="18" charset="-127"/>
              </a:rPr>
              <a:t>컬러브랜딩디자인계획 수립</a:t>
            </a:r>
            <a:r>
              <a:rPr kumimoji="1" lang="en-US" altLang="ko-KR" sz="3600">
                <a:highlight>
                  <a:srgbClr val="FFFF00"/>
                </a:highlight>
                <a:latin typeface="SB Aggro Medium" panose="02020603020101020101" pitchFamily="18" charset="-127"/>
                <a:ea typeface="SB Aggro Medium" panose="02020603020101020101" pitchFamily="18" charset="-127"/>
              </a:rPr>
              <a:t>(Color Branding Design )</a:t>
            </a:r>
            <a:endParaRPr kumimoji="1" lang="ko-KR" altLang="en-US" sz="3600">
              <a:highlight>
                <a:srgbClr val="FFFF00"/>
              </a:highlight>
              <a:latin typeface="SB Aggro Medium" panose="02020603020101020101" pitchFamily="18" charset="-127"/>
              <a:ea typeface="SB Aggro Medium" panose="02020603020101020101" pitchFamily="18" charset="-127"/>
            </a:endParaRPr>
          </a:p>
        </p:txBody>
      </p:sp>
      <p:sp>
        <p:nvSpPr>
          <p:cNvPr id="8" name="모서리가 둥근 직사각형 7">
            <a:hlinkClick r:id="rId3"/>
            <a:extLst>
              <a:ext uri="{FF2B5EF4-FFF2-40B4-BE49-F238E27FC236}">
                <a16:creationId xmlns:a16="http://schemas.microsoft.com/office/drawing/2014/main" id="{2E807007-6A71-72B1-B800-C619E77193A6}"/>
              </a:ext>
            </a:extLst>
          </p:cNvPr>
          <p:cNvSpPr/>
          <p:nvPr/>
        </p:nvSpPr>
        <p:spPr>
          <a:xfrm>
            <a:off x="1608667" y="6260068"/>
            <a:ext cx="2997555" cy="838200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2800" b="1">
                <a:solidFill>
                  <a:schemeClr val="tx1"/>
                </a:solidFill>
                <a:latin typeface="SB Aggro Medium" panose="02020603020101020101" pitchFamily="18" charset="-127"/>
                <a:ea typeface="SB Aggro Medium" panose="02020603020101020101" pitchFamily="18" charset="-127"/>
              </a:rPr>
              <a:t>→ 바로가기</a:t>
            </a:r>
          </a:p>
        </p:txBody>
      </p:sp>
    </p:spTree>
    <p:extLst>
      <p:ext uri="{BB962C8B-B14F-4D97-AF65-F5344CB8AC3E}">
        <p14:creationId xmlns:p14="http://schemas.microsoft.com/office/powerpoint/2010/main" val="1686326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9EE60E6-DDDC-AF57-86D6-D7D111353648}"/>
              </a:ext>
            </a:extLst>
          </p:cNvPr>
          <p:cNvSpPr txBox="1"/>
          <p:nvPr/>
        </p:nvSpPr>
        <p:spPr>
          <a:xfrm>
            <a:off x="7859471" y="5193044"/>
            <a:ext cx="4733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6000" dirty="0">
                <a:latin typeface="GangwonEduPower" panose="02020603020101020101" pitchFamily="18" charset="-127"/>
                <a:ea typeface="GangwonEduPower" panose="02020603020101020101" pitchFamily="18" charset="-127"/>
              </a:rPr>
              <a:t>감사합니다</a:t>
            </a:r>
            <a:r>
              <a:rPr kumimoji="1" lang="en-US" altLang="ko-KR" sz="2400" dirty="0">
                <a:latin typeface="GangwonEduPower" panose="02020603020101020101" pitchFamily="18" charset="-127"/>
                <a:ea typeface="GangwonEduPower" panose="02020603020101020101" pitchFamily="18" charset="-127"/>
              </a:rPr>
              <a:t>.</a:t>
            </a:r>
            <a:endParaRPr kumimoji="1" lang="ko-Kore-KR" altLang="en-US" sz="2400" dirty="0">
              <a:latin typeface="GangwonEduPower" panose="02020603020101020101" pitchFamily="18" charset="-127"/>
              <a:ea typeface="GangwonEduPower" panose="02020603020101020101" pitchFamily="18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86675DE-C605-C7FA-C451-0E63867AF924}"/>
              </a:ext>
            </a:extLst>
          </p:cNvPr>
          <p:cNvGrpSpPr/>
          <p:nvPr/>
        </p:nvGrpSpPr>
        <p:grpSpPr>
          <a:xfrm>
            <a:off x="7947315" y="7504496"/>
            <a:ext cx="3326292" cy="397980"/>
            <a:chOff x="538599" y="3364426"/>
            <a:chExt cx="3326292" cy="39798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76EDAD-2507-F87B-48CD-FCBC88039874}"/>
                </a:ext>
              </a:extLst>
            </p:cNvPr>
            <p:cNvSpPr txBox="1"/>
            <p:nvPr/>
          </p:nvSpPr>
          <p:spPr>
            <a:xfrm>
              <a:off x="1176334" y="3393074"/>
              <a:ext cx="2688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latin typeface="Binggrae" panose="02030503000000000000" pitchFamily="18" charset="-127"/>
                  <a:ea typeface="Binggrae" panose="02030503000000000000" pitchFamily="18" charset="-127"/>
                </a:rPr>
                <a:t>카카오채널 </a:t>
              </a:r>
              <a:r>
                <a:rPr kumimoji="1" lang="en-US" altLang="ko-KR" dirty="0">
                  <a:latin typeface="Binggrae" panose="02030503000000000000" pitchFamily="18" charset="-127"/>
                  <a:ea typeface="Binggrae" panose="02030503000000000000" pitchFamily="18" charset="-127"/>
                </a:rPr>
                <a:t>[</a:t>
              </a:r>
              <a:r>
                <a:rPr kumimoji="1" lang="ko-KR" altLang="en-US" dirty="0" err="1">
                  <a:latin typeface="Binggrae" panose="02030503000000000000" pitchFamily="18" charset="-127"/>
                  <a:ea typeface="Binggrae" panose="02030503000000000000" pitchFamily="18" charset="-127"/>
                </a:rPr>
                <a:t>시그넥션랩</a:t>
              </a:r>
              <a:r>
                <a:rPr kumimoji="1" lang="en-US" altLang="ko-KR" dirty="0">
                  <a:latin typeface="Binggrae" panose="02030503000000000000" pitchFamily="18" charset="-127"/>
                  <a:ea typeface="Binggrae" panose="02030503000000000000" pitchFamily="18" charset="-127"/>
                </a:rPr>
                <a:t>]</a:t>
              </a:r>
              <a:endParaRPr kumimoji="1" lang="ko-Kore-KR" altLang="en-US" dirty="0">
                <a:latin typeface="Binggrae" panose="02030503000000000000" pitchFamily="18" charset="-127"/>
                <a:ea typeface="Binggrae" panose="02030503000000000000" pitchFamily="18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73AE8FAC-06BB-2DFF-7FD1-2DA915A15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599" y="3364426"/>
              <a:ext cx="356901" cy="356901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67B7604-C136-6A57-3D14-C731A6A5789D}"/>
              </a:ext>
            </a:extLst>
          </p:cNvPr>
          <p:cNvGrpSpPr/>
          <p:nvPr/>
        </p:nvGrpSpPr>
        <p:grpSpPr>
          <a:xfrm>
            <a:off x="8002215" y="6467181"/>
            <a:ext cx="3978765" cy="369332"/>
            <a:chOff x="1406796" y="2667973"/>
            <a:chExt cx="3978765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2E2561-A786-D8B1-34AF-A49D41C3AB12}"/>
                </a:ext>
              </a:extLst>
            </p:cNvPr>
            <p:cNvSpPr txBox="1"/>
            <p:nvPr/>
          </p:nvSpPr>
          <p:spPr>
            <a:xfrm>
              <a:off x="1989631" y="2667973"/>
              <a:ext cx="3395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 err="1">
                  <a:latin typeface="Bangla MN" pitchFamily="2" charset="0"/>
                  <a:ea typeface="Gapyeong Hanseokbong R" panose="02040503000000000000" pitchFamily="18" charset="-127"/>
                  <a:cs typeface="Bangla MN" pitchFamily="2" charset="0"/>
                </a:rPr>
                <a:t>signectionlab@naver.com</a:t>
              </a:r>
              <a:endParaRPr kumimoji="1" lang="ko-Kore-KR" altLang="en-US" dirty="0">
                <a:latin typeface="Bangla MN" pitchFamily="2" charset="0"/>
                <a:ea typeface="Gapyeong Hanseokbong R" panose="02040503000000000000" pitchFamily="18" charset="-127"/>
                <a:cs typeface="Bangla MN" pitchFamily="2" charset="0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965176D-DEDE-7EAC-19BA-276E60E8A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6796" y="2699999"/>
              <a:ext cx="247103" cy="247103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4E8C16C-74A8-8232-B98E-E4DC488B7A29}"/>
              </a:ext>
            </a:extLst>
          </p:cNvPr>
          <p:cNvGrpSpPr/>
          <p:nvPr/>
        </p:nvGrpSpPr>
        <p:grpSpPr>
          <a:xfrm>
            <a:off x="8002215" y="6994296"/>
            <a:ext cx="3497012" cy="369332"/>
            <a:chOff x="476844" y="3482292"/>
            <a:chExt cx="349701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9CA021-C15C-3416-8E9A-F8F7A0AE377D}"/>
                </a:ext>
              </a:extLst>
            </p:cNvPr>
            <p:cNvSpPr txBox="1"/>
            <p:nvPr/>
          </p:nvSpPr>
          <p:spPr>
            <a:xfrm>
              <a:off x="949567" y="3482292"/>
              <a:ext cx="3024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latin typeface="Bangla MN" pitchFamily="2" charset="0"/>
                  <a:ea typeface="Gapyeong Hanseokbong R" panose="02040503000000000000" pitchFamily="18" charset="-127"/>
                  <a:cs typeface="Bangla MN" pitchFamily="2" charset="0"/>
                </a:rPr>
                <a:t>@</a:t>
              </a:r>
              <a:r>
                <a:rPr kumimoji="1" lang="en-US" altLang="ko-KR" dirty="0" err="1">
                  <a:latin typeface="Bangla MN" pitchFamily="2" charset="0"/>
                  <a:ea typeface="Gapyeong Hanseokbong R" panose="02040503000000000000" pitchFamily="18" charset="-127"/>
                  <a:cs typeface="Bangla MN" pitchFamily="2" charset="0"/>
                </a:rPr>
                <a:t>signectionlab.official</a:t>
              </a:r>
              <a:endParaRPr kumimoji="1" lang="ko-Kore-KR" altLang="en-US" dirty="0">
                <a:latin typeface="Bangla MN" pitchFamily="2" charset="0"/>
                <a:ea typeface="Gapyeong Hanseokbong R" panose="02040503000000000000" pitchFamily="18" charset="-127"/>
                <a:cs typeface="Bangla MN" pitchFamily="2" charset="0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E44583A-6F2A-056D-FA9F-1D8715603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6844" y="3492870"/>
              <a:ext cx="247103" cy="247103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C3BF9EB-5BA5-E097-5D9E-9A437D799E84}"/>
              </a:ext>
            </a:extLst>
          </p:cNvPr>
          <p:cNvGrpSpPr/>
          <p:nvPr/>
        </p:nvGrpSpPr>
        <p:grpSpPr>
          <a:xfrm>
            <a:off x="12327618" y="5193044"/>
            <a:ext cx="2627642" cy="2894237"/>
            <a:chOff x="5093219" y="1266862"/>
            <a:chExt cx="2627642" cy="289423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4CFFCB-4879-54CA-66CC-2B739B12A804}"/>
                </a:ext>
              </a:extLst>
            </p:cNvPr>
            <p:cNvSpPr txBox="1"/>
            <p:nvPr/>
          </p:nvSpPr>
          <p:spPr>
            <a:xfrm>
              <a:off x="5380958" y="3884100"/>
              <a:ext cx="20521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ko-Kore-KR" sz="1200" dirty="0">
                  <a:latin typeface="Binggrae" panose="02030503000000000000" pitchFamily="18" charset="-127"/>
                  <a:ea typeface="Binggrae" panose="02030503000000000000" pitchFamily="18" charset="-127"/>
                </a:rPr>
                <a:t>https://</a:t>
              </a:r>
              <a:r>
                <a:rPr kumimoji="1" lang="en" altLang="ko-Kore-KR" sz="1200" dirty="0" err="1">
                  <a:latin typeface="Binggrae" panose="02030503000000000000" pitchFamily="18" charset="-127"/>
                  <a:ea typeface="Binggrae" panose="02030503000000000000" pitchFamily="18" charset="-127"/>
                </a:rPr>
                <a:t>bit.ly</a:t>
              </a:r>
              <a:r>
                <a:rPr kumimoji="1" lang="en" altLang="ko-Kore-KR" sz="1200" dirty="0">
                  <a:latin typeface="Binggrae" panose="02030503000000000000" pitchFamily="18" charset="-127"/>
                  <a:ea typeface="Binggrae" panose="02030503000000000000" pitchFamily="18" charset="-127"/>
                </a:rPr>
                <a:t>/41J1hAP</a:t>
              </a:r>
              <a:endParaRPr kumimoji="1" lang="ko-Kore-KR" altLang="en-US" sz="1200" dirty="0">
                <a:latin typeface="Binggrae" panose="02030503000000000000" pitchFamily="18" charset="-127"/>
                <a:ea typeface="Binggrae" panose="02030503000000000000" pitchFamily="18" charset="-127"/>
              </a:endParaRP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77F94E85-B52B-9534-EC51-22F1FF166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58090" y="1266862"/>
              <a:ext cx="2097900" cy="20979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28A903-DA3A-5034-4F8F-25D05AD64FB4}"/>
                </a:ext>
              </a:extLst>
            </p:cNvPr>
            <p:cNvSpPr txBox="1"/>
            <p:nvPr/>
          </p:nvSpPr>
          <p:spPr>
            <a:xfrm>
              <a:off x="5093219" y="3488489"/>
              <a:ext cx="2627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latin typeface="Wavve PADO" panose="02020600000101010101" pitchFamily="18" charset="-127"/>
                  <a:ea typeface="Wavve PADO" panose="02020600000101010101" pitchFamily="18" charset="-127"/>
                </a:rPr>
                <a:t>강의 설문 참여해주세요</a:t>
              </a:r>
              <a:r>
                <a:rPr kumimoji="1" lang="en-US" altLang="ko-KR" dirty="0">
                  <a:latin typeface="Wavve PADO" panose="02020600000101010101" pitchFamily="18" charset="-127"/>
                  <a:ea typeface="Wavve PADO" panose="02020600000101010101" pitchFamily="18" charset="-127"/>
                  <a:sym typeface="Wingdings" pitchFamily="2" charset="2"/>
                </a:rPr>
                <a:t></a:t>
              </a:r>
              <a:endParaRPr kumimoji="1" lang="ko-Kore-KR" altLang="en-US" dirty="0">
                <a:latin typeface="Wavve PADO" panose="02020600000101010101" pitchFamily="18" charset="-127"/>
                <a:ea typeface="Wavve PADO" panose="0202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01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172</Words>
  <Application>Microsoft Macintosh PowerPoint</Application>
  <PresentationFormat>사용자 지정</PresentationFormat>
  <Paragraphs>41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Paperlogy 5 Medium</vt:lpstr>
      <vt:lpstr>Arial</vt:lpstr>
      <vt:lpstr>Bangla MN</vt:lpstr>
      <vt:lpstr>establish Retrosans OTF</vt:lpstr>
      <vt:lpstr>SB Aggro Medium</vt:lpstr>
      <vt:lpstr>Binggrae</vt:lpstr>
      <vt:lpstr>Calibri</vt:lpstr>
      <vt:lpstr>Wavve PADO</vt:lpstr>
      <vt:lpstr>GangwonEduPower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ERICA Lee</cp:lastModifiedBy>
  <cp:revision>7</cp:revision>
  <dcterms:created xsi:type="dcterms:W3CDTF">2006-08-16T00:00:00Z</dcterms:created>
  <dcterms:modified xsi:type="dcterms:W3CDTF">2026-08-08T06:10:00Z</dcterms:modified>
</cp:coreProperties>
</file>